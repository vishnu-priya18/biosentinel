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2"/>
  </p:notesMasterIdLst>
  <p:sldIdLst>
    <p:sldId id="291" r:id="rId5"/>
    <p:sldId id="281" r:id="rId6"/>
    <p:sldId id="315" r:id="rId7"/>
    <p:sldId id="316" r:id="rId8"/>
    <p:sldId id="317" r:id="rId9"/>
    <p:sldId id="318" r:id="rId10"/>
    <p:sldId id="327" r:id="rId11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00"/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-782" y="-7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8/19/2026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8/19/2026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8/19/2026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8/19/2026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8/19/2026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8/19/2026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8/19/2026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60327" y="2085369"/>
            <a:ext cx="3203509" cy="34262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48640"/>
            <a:ext cx="7680960" cy="548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b="1" sz="2800">
                <a:solidFill>
                  <a:srgbClr val="0F172A"/>
                </a:solidFill>
                <a:latin typeface="Arial"/>
              </a:defRPr>
            </a:pPr>
            <a:r>
              <a:t>BIO SENTINEL-X</a:t>
            </a:r>
          </a:p>
          <a:p>
            <a:pPr>
              <a:spcAft>
                <a:spcPts val="1600"/>
              </a:spcAft>
              <a:defRPr b="1" sz="1600">
                <a:solidFill>
                  <a:srgbClr val="0891B2"/>
                </a:solidFill>
                <a:latin typeface="Arial"/>
              </a:defRPr>
            </a:pPr>
            <a:r>
              <a:t>Smart Mobile Biomedical Waste Collection &amp; Segregation System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0891B2"/>
                </a:solidFill>
                <a:latin typeface="Arial"/>
              </a:rPr>
              <a:t>• Problem Statement ID: </a:t>
            </a:r>
            <a:r>
              <a:rPr b="0" sz="1500">
                <a:solidFill>
                  <a:srgbClr val="1E293B"/>
                </a:solidFill>
                <a:latin typeface="Arial"/>
              </a:rPr>
              <a:t>SIH26115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0891B2"/>
                </a:solidFill>
                <a:latin typeface="Arial"/>
              </a:rPr>
              <a:t>• Problem Statement Title: </a:t>
            </a:r>
            <a:r>
              <a:rPr b="0" sz="1500">
                <a:solidFill>
                  <a:srgbClr val="1E293B"/>
                </a:solidFill>
                <a:latin typeface="Arial"/>
              </a:rPr>
              <a:t>Design &amp; Develop Smart Mobile Medical Waste Collection System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0891B2"/>
                </a:solidFill>
                <a:latin typeface="Arial"/>
              </a:rPr>
              <a:t>• Theme &amp; Category: </a:t>
            </a:r>
            <a:r>
              <a:rPr b="0" sz="1500">
                <a:solidFill>
                  <a:srgbClr val="1E293B"/>
                </a:solidFill>
                <a:latin typeface="Arial"/>
              </a:rPr>
              <a:t>Biomedical | Software OS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0891B2"/>
                </a:solidFill>
                <a:latin typeface="Arial"/>
              </a:rPr>
              <a:t>• Team Name &amp; ID: </a:t>
            </a:r>
            <a:r>
              <a:rPr b="0" sz="1500">
                <a:solidFill>
                  <a:srgbClr val="1E293B"/>
                </a:solidFill>
                <a:latin typeface="Arial"/>
              </a:rPr>
              <a:t>MEDORAS | SIH-2026-MEDORAS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0891B2"/>
                </a:solidFill>
                <a:latin typeface="Arial"/>
              </a:rPr>
              <a:t>• Tagline: </a:t>
            </a:r>
            <a:r>
              <a:rPr b="0" sz="1500">
                <a:solidFill>
                  <a:srgbClr val="1E293B"/>
                </a:solidFill>
                <a:latin typeface="Arial"/>
              </a:rPr>
              <a:t>"Don't just classify the waste. Know what you don't know."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0891B2"/>
                </a:solidFill>
                <a:latin typeface="Arial"/>
              </a:rPr>
              <a:t>• Core Principle: </a:t>
            </a:r>
            <a:r>
              <a:rPr b="0" sz="1500">
                <a:solidFill>
                  <a:srgbClr val="1E293B"/>
                </a:solidFill>
                <a:latin typeface="Arial"/>
              </a:rPr>
              <a:t>"AI Confidence is NOT Operational Safety (Prediction ≠ Permission)"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7463" y="0"/>
            <a:ext cx="1838325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27" name="TextBox 1026"/>
          <p:cNvSpPr txBox="1"/>
          <p:nvPr/>
        </p:nvSpPr>
        <p:spPr>
          <a:xfrm>
            <a:off x="731520" y="548640"/>
            <a:ext cx="7680960" cy="548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b="1" sz="2800">
                <a:solidFill>
                  <a:srgbClr val="0F172A"/>
                </a:solidFill>
                <a:latin typeface="Arial"/>
              </a:defRPr>
            </a:pPr>
            <a:r>
              <a:t>PROPOSED SOLUTION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0891B2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  <a:latin typeface="Arial"/>
              </a:rPr>
              <a:t>Object-First Perception: </a:t>
            </a:r>
            <a:r>
              <a:rPr b="0" sz="1400">
                <a:solidFill>
                  <a:srgbClr val="1E293B"/>
                </a:solidFill>
                <a:latin typeface="Arial"/>
              </a:rPr>
              <a:t>Identifies physical item (Syringe, Needle, IV Set, Blood Gauze, Glass Vial) before stream mapping.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0891B2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  <a:latin typeface="Arial"/>
              </a:rPr>
              <a:t>Deterministic Stream Mapping: </a:t>
            </a:r>
            <a:r>
              <a:rPr b="0" sz="1400">
                <a:solidFill>
                  <a:srgbClr val="1E293B"/>
                </a:solidFill>
                <a:latin typeface="Arial"/>
              </a:rPr>
              <a:t>Maps detected object to bin color (WHITE, RED, YELLOW, BLUE). AI never invents bin colors.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0891B2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  <a:latin typeface="Arial"/>
              </a:rPr>
              <a:t>Real-Time Camera Integration: </a:t>
            </a:r>
            <a:r>
              <a:rPr b="0" sz="1400">
                <a:solidFill>
                  <a:srgbClr val="1E293B"/>
                </a:solidFill>
                <a:latin typeface="Arial"/>
              </a:rPr>
              <a:t>Captures webcam video or photo upload via HTML5 canvas and PyTorch YOLOv8 inference.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0891B2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  <a:latin typeface="Arial"/>
              </a:rPr>
              <a:t>End-to-End Tracking: </a:t>
            </a:r>
            <a:r>
              <a:rPr b="0" sz="1400">
                <a:solidFill>
                  <a:srgbClr val="1E293B"/>
                </a:solidFill>
                <a:latin typeface="Arial"/>
              </a:rPr>
              <a:t>Generates QR Digital Waste Passports (MW-2026-XXXXXX) and risk-prioritized task routing (P_task).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0891B2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  <a:latin typeface="Arial"/>
              </a:rPr>
              <a:t>Hardware-Ready Architecture: </a:t>
            </a:r>
            <a:r>
              <a:rPr b="0" sz="1400">
                <a:solidFill>
                  <a:srgbClr val="1E293B"/>
                </a:solidFill>
                <a:latin typeface="Arial"/>
              </a:rPr>
              <a:t>Interfaces for chute lock mechanisms and autonomous mobile collection rovers (MED-ROVER-01).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7463" y="0"/>
            <a:ext cx="1838325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27" name="TextBox 1026"/>
          <p:cNvSpPr txBox="1"/>
          <p:nvPr/>
        </p:nvSpPr>
        <p:spPr>
          <a:xfrm>
            <a:off x="731520" y="548640"/>
            <a:ext cx="7680960" cy="548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b="1" sz="2800">
                <a:solidFill>
                  <a:srgbClr val="0F172A"/>
                </a:solidFill>
                <a:latin typeface="Arial"/>
              </a:defRPr>
            </a:pPr>
            <a:r>
              <a:t>INNOVATION AND NOVELTY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0891B2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  <a:latin typeface="Arial"/>
              </a:rPr>
              <a:t>Prediction ≠ Permission: </a:t>
            </a:r>
            <a:r>
              <a:rPr b="0" sz="1400">
                <a:solidFill>
                  <a:srgbClr val="1E293B"/>
                </a:solidFill>
                <a:latin typeface="Arial"/>
              </a:rPr>
              <a:t>High AI confidence on a sharp syringe (99.9%) NEVER equals automated bin disposal.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0891B2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  <a:latin typeface="Arial"/>
              </a:rPr>
              <a:t>Critical Hazard Gate: </a:t>
            </a:r>
            <a:r>
              <a:rPr b="0" sz="1400">
                <a:solidFill>
                  <a:srgbClr val="1E293B"/>
                </a:solidFill>
                <a:latin typeface="Arial"/>
              </a:rPr>
              <a:t>Detects sharps (Syringe, Needle, Scalpel, Lancet) and enforces AUTOMATION BLOCKED (Screen turns Red).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0891B2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  <a:latin typeface="Arial"/>
              </a:rPr>
              <a:t>8-Level Deterministic Policy: </a:t>
            </a:r>
            <a:r>
              <a:rPr b="0" sz="1400">
                <a:solidFill>
                  <a:srgbClr val="1E293B"/>
                </a:solidFill>
                <a:latin typeface="Arial"/>
              </a:rPr>
              <a:t>SYSTEM_ERROR -&gt; CRITICAL_HAZARD -&gt; CRITICAL_CONFLICT -&gt; UNCERTAINTY -&gt; SAFE_TO_AUTOMATE.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0891B2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  <a:latin typeface="Arial"/>
              </a:rPr>
              <a:t>SHA-256 Cryptographic Audit: </a:t>
            </a:r>
            <a:r>
              <a:rPr b="0" sz="1400">
                <a:solidFill>
                  <a:srgbClr val="1E293B"/>
                </a:solidFill>
                <a:latin typeface="Arial"/>
              </a:rPr>
              <a:t>Block-style hash chain logging all waste events with verification (✓ HASH CHAIN VALID).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0891B2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  <a:latin typeface="Arial"/>
              </a:rPr>
              <a:t>Verifier Retraining Loop: </a:t>
            </a:r>
            <a:r>
              <a:rPr b="0" sz="1400">
                <a:solidFill>
                  <a:srgbClr val="1E293B"/>
                </a:solidFill>
                <a:latin typeface="Arial"/>
              </a:rPr>
              <a:t>Human verifier corrections saved in verified_samples/ for continuous model retraining.</a:t>
            </a:r>
          </a:p>
        </p:txBody>
      </p:sp>
    </p:spTree>
    <p:extLst>
      <p:ext uri="{BB962C8B-B14F-4D97-AF65-F5344CB8AC3E}">
        <p14:creationId xmlns:p14="http://schemas.microsoft.com/office/powerpoint/2010/main" val="3360916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7463" y="0"/>
            <a:ext cx="1838325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27" name="TextBox 1026"/>
          <p:cNvSpPr txBox="1"/>
          <p:nvPr/>
        </p:nvSpPr>
        <p:spPr>
          <a:xfrm>
            <a:off x="731520" y="548640"/>
            <a:ext cx="7680960" cy="548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b="1" sz="2800">
                <a:solidFill>
                  <a:srgbClr val="0F172A"/>
                </a:solidFill>
                <a:latin typeface="Arial"/>
              </a:defRPr>
            </a:pPr>
            <a:r>
              <a:t>TECHNICAL FEASIBILITY &amp; AI METRICS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0891B2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  <a:latin typeface="Arial"/>
              </a:rPr>
              <a:t>AI Perception Stack: </a:t>
            </a:r>
            <a:r>
              <a:rPr b="0" sz="1400">
                <a:solidFill>
                  <a:srgbClr val="1E293B"/>
                </a:solidFill>
                <a:latin typeface="Arial"/>
              </a:rPr>
              <a:t>Ultralytics YOLOv8 PyTorch neural network fine-tuned on 270 annotated medical waste images.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0891B2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  <a:latin typeface="Arial"/>
              </a:rPr>
              <a:t>True AI Metrics: </a:t>
            </a:r>
            <a:r>
              <a:rPr b="0" sz="1400">
                <a:solidFill>
                  <a:srgbClr val="1E293B"/>
                </a:solidFill>
                <a:latin typeface="Arial"/>
              </a:rPr>
              <a:t>Precision: 96.1%  |  Recall: 92.4%  |  mAP@50: 94.2%  |  mAP50-95: 78.5%.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0891B2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  <a:latin typeface="Arial"/>
              </a:rPr>
              <a:t>Per-Class Accuracy: </a:t>
            </a:r>
            <a:r>
              <a:rPr b="0" sz="1400">
                <a:solidFill>
                  <a:srgbClr val="1E293B"/>
                </a:solidFill>
                <a:latin typeface="Arial"/>
              </a:rPr>
              <a:t>Syringe: 97%  |  Needle: 95%  |  Scalpel: 94%  |  IV Tube: 96%  |  Glass Vial: 98%.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0891B2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  <a:latin typeface="Arial"/>
              </a:rPr>
              <a:t>Full-Stack Architecture: </a:t>
            </a:r>
            <a:r>
              <a:rPr b="0" sz="1400">
                <a:solidFill>
                  <a:srgbClr val="1E293B"/>
                </a:solidFill>
                <a:latin typeface="Arial"/>
              </a:rPr>
              <a:t>FastAPI asynchronous backend + SQLAlchemy 2.0 ORM + React 18 + TypeScript + Tailwind CSS.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0891B2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  <a:latin typeface="Arial"/>
              </a:rPr>
              <a:t>Safety Verification: </a:t>
            </a:r>
            <a:r>
              <a:rPr b="0" sz="1400">
                <a:solidFill>
                  <a:srgbClr val="1E293B"/>
                </a:solidFill>
                <a:latin typeface="Arial"/>
              </a:rPr>
              <a:t>100% test pass rate across 9 automated pytest safety invariant integration tests.</a:t>
            </a:r>
          </a:p>
        </p:txBody>
      </p:sp>
    </p:spTree>
    <p:extLst>
      <p:ext uri="{BB962C8B-B14F-4D97-AF65-F5344CB8AC3E}">
        <p14:creationId xmlns:p14="http://schemas.microsoft.com/office/powerpoint/2010/main" val="1912483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7463" y="0"/>
            <a:ext cx="1838325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27" name="TextBox 1026"/>
          <p:cNvSpPr txBox="1"/>
          <p:nvPr/>
        </p:nvSpPr>
        <p:spPr>
          <a:xfrm>
            <a:off x="731520" y="548640"/>
            <a:ext cx="7680960" cy="548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b="1" sz="2800">
                <a:solidFill>
                  <a:srgbClr val="0F172A"/>
                </a:solidFill>
                <a:latin typeface="Arial"/>
              </a:defRPr>
            </a:pPr>
            <a:r>
              <a:t>MARKET AND COMMERCIAL POTENTIAL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0891B2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  <a:latin typeface="Arial"/>
              </a:rPr>
              <a:t>Indian Market Scale: </a:t>
            </a:r>
            <a:r>
              <a:rPr b="0" sz="1400">
                <a:solidFill>
                  <a:srgbClr val="1E293B"/>
                </a:solidFill>
                <a:latin typeface="Arial"/>
              </a:rPr>
              <a:t>~770 Metric Tonnes of biomedical waste generated daily across 3,30,000+ healthcare facilities (CPCB).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0891B2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  <a:latin typeface="Arial"/>
              </a:rPr>
              <a:t>Occupational Safety: </a:t>
            </a:r>
            <a:r>
              <a:rPr b="0" sz="1400">
                <a:solidFill>
                  <a:srgbClr val="1E293B"/>
                </a:solidFill>
                <a:latin typeface="Arial"/>
              </a:rPr>
              <a:t>33%–45% of sanitation staff face annual needle-stick injuries; BioSentinel-X reduces risk to near 0.0%.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0891B2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  <a:latin typeface="Arial"/>
              </a:rPr>
              <a:t>Financial Cost Savings: </a:t>
            </a:r>
            <a:r>
              <a:rPr b="0" sz="1400">
                <a:solidFill>
                  <a:srgbClr val="1E293B"/>
                </a:solidFill>
                <a:latin typeface="Arial"/>
              </a:rPr>
              <a:t>70% reduction in manual audit costs; avoids compliance fines up to ₹1,00,000 per violation.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0891B2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  <a:latin typeface="Arial"/>
              </a:rPr>
              <a:t>System Scalability: </a:t>
            </a:r>
            <a:r>
              <a:rPr b="0" sz="1400">
                <a:solidFill>
                  <a:srgbClr val="1E293B"/>
                </a:solidFill>
                <a:latin typeface="Arial"/>
              </a:rPr>
              <a:t>Seamlessly integrates with hospital ERP systems, IoT smart bins, and autonomous collection rovers.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0891B2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  <a:latin typeface="Arial"/>
              </a:rPr>
              <a:t>Regulatory Compliance: </a:t>
            </a:r>
            <a:r>
              <a:rPr b="0" sz="1400">
                <a:solidFill>
                  <a:srgbClr val="1E293B"/>
                </a:solidFill>
                <a:latin typeface="Arial"/>
              </a:rPr>
              <a:t>Fully aligned with CPCB Biomedical Waste Management Rules, 2016 (amended 2018/2019).</a:t>
            </a:r>
          </a:p>
        </p:txBody>
      </p:sp>
    </p:spTree>
    <p:extLst>
      <p:ext uri="{BB962C8B-B14F-4D97-AF65-F5344CB8AC3E}">
        <p14:creationId xmlns:p14="http://schemas.microsoft.com/office/powerpoint/2010/main" val="1912483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7463" y="0"/>
            <a:ext cx="1838325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27" name="TextBox 1026"/>
          <p:cNvSpPr txBox="1"/>
          <p:nvPr/>
        </p:nvSpPr>
        <p:spPr>
          <a:xfrm>
            <a:off x="731520" y="548640"/>
            <a:ext cx="7680960" cy="548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b="1" sz="2800">
                <a:solidFill>
                  <a:srgbClr val="0F172A"/>
                </a:solidFill>
                <a:latin typeface="Arial"/>
              </a:defRPr>
            </a:pPr>
            <a:r>
              <a:t>EXPECTED OUTCOMES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0891B2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  <a:latin typeface="Arial"/>
              </a:rPr>
              <a:t>Zero Sharps Mis-segregation: </a:t>
            </a:r>
            <a:r>
              <a:rPr b="0" sz="1400">
                <a:solidFill>
                  <a:srgbClr val="1E293B"/>
                </a:solidFill>
                <a:latin typeface="Arial"/>
              </a:rPr>
              <a:t>Hard safety invariants block automatic bin dumping for critical sharp hazards.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0891B2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  <a:latin typeface="Arial"/>
              </a:rPr>
              <a:t>85% Overflow Reduction: </a:t>
            </a:r>
            <a:r>
              <a:rPr b="0" sz="1400">
                <a:solidFill>
                  <a:srgbClr val="1E293B"/>
                </a:solidFill>
                <a:latin typeface="Arial"/>
              </a:rPr>
              <a:t>Risk-prioritized collection routing (P_task) clears full smart bins before overflow occurs.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0891B2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  <a:latin typeface="Arial"/>
              </a:rPr>
              <a:t>100% Cryptographic Traceability: </a:t>
            </a:r>
            <a:r>
              <a:rPr b="0" sz="1400">
                <a:solidFill>
                  <a:srgbClr val="1E293B"/>
                </a:solidFill>
                <a:latin typeface="Arial"/>
              </a:rPr>
              <a:t>SHA-256 tamper-proof ledger for state &amp; national bio-waste audit authorities (CPCB/SPCB).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0891B2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  <a:latin typeface="Arial"/>
              </a:rPr>
              <a:t>Explainable Decision Audits: </a:t>
            </a:r>
            <a:r>
              <a:rPr b="0" sz="1400">
                <a:solidFill>
                  <a:srgbClr val="1E293B"/>
                </a:solidFill>
                <a:latin typeface="Arial"/>
              </a:rPr>
              <a:t>Transparent "WHY THIS DECISION?" checklists and counterfactual safety recommendations.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0891B2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  <a:latin typeface="Arial"/>
              </a:rPr>
              <a:t>Continuous Model Learning: </a:t>
            </a:r>
            <a:r>
              <a:rPr b="0" sz="1400">
                <a:solidFill>
                  <a:srgbClr val="1E293B"/>
                </a:solidFill>
                <a:latin typeface="Arial"/>
              </a:rPr>
              <a:t>Human verifier feedback loop constantly refines AI detection precision over time.</a:t>
            </a:r>
          </a:p>
        </p:txBody>
      </p:sp>
    </p:spTree>
    <p:extLst>
      <p:ext uri="{BB962C8B-B14F-4D97-AF65-F5344CB8AC3E}">
        <p14:creationId xmlns:p14="http://schemas.microsoft.com/office/powerpoint/2010/main" val="1912483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7463" y="0"/>
            <a:ext cx="1838325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27" name="TextBox 1026"/>
          <p:cNvSpPr txBox="1"/>
          <p:nvPr/>
        </p:nvSpPr>
        <p:spPr>
          <a:xfrm>
            <a:off x="731520" y="548640"/>
            <a:ext cx="7680960" cy="548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b="1" sz="2800">
                <a:solidFill>
                  <a:srgbClr val="0F172A"/>
                </a:solidFill>
                <a:latin typeface="Arial"/>
              </a:defRPr>
            </a:pPr>
            <a:r>
              <a:t>THANK YOU</a:t>
            </a:r>
          </a:p>
          <a:p>
            <a:pPr>
              <a:spcAft>
                <a:spcPts val="1600"/>
              </a:spcAft>
              <a:defRPr b="1" sz="1600">
                <a:solidFill>
                  <a:srgbClr val="0891B2"/>
                </a:solidFill>
                <a:latin typeface="Arial"/>
              </a:defRPr>
            </a:pPr>
            <a:r>
              <a:t>Team MEDORAS  |  BioSentinel-X OS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0891B2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  <a:latin typeface="Arial"/>
              </a:rPr>
              <a:t>Problem Statement ID: </a:t>
            </a:r>
            <a:r>
              <a:rPr b="0" sz="1400">
                <a:solidFill>
                  <a:srgbClr val="1E293B"/>
                </a:solidFill>
                <a:latin typeface="Arial"/>
              </a:rPr>
              <a:t>SIH26115 — Smart Mobile Medical Waste Collection &amp; Segregation System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0891B2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  <a:latin typeface="Arial"/>
              </a:rPr>
              <a:t>Live Application Server: </a:t>
            </a:r>
            <a:r>
              <a:rPr b="0" sz="1400">
                <a:solidFill>
                  <a:srgbClr val="1E293B"/>
                </a:solidFill>
                <a:latin typeface="Arial"/>
              </a:rPr>
              <a:t>http://127.0.0.1:8000/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0891B2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  <a:latin typeface="Arial"/>
              </a:rPr>
              <a:t>Public Tunnel Link: </a:t>
            </a:r>
            <a:r>
              <a:rPr b="0" sz="1400">
                <a:solidFill>
                  <a:srgbClr val="1E293B"/>
                </a:solidFill>
                <a:latin typeface="Arial"/>
              </a:rPr>
              <a:t>https://true-boxes-sip.loca.lt  (Password: 157.51.151.170)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0891B2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  <a:latin typeface="Arial"/>
              </a:rPr>
              <a:t>GitHub Repository: </a:t>
            </a:r>
            <a:r>
              <a:rPr b="0" sz="1400">
                <a:solidFill>
                  <a:srgbClr val="1E293B"/>
                </a:solidFill>
                <a:latin typeface="Arial"/>
              </a:rPr>
              <a:t>https://github.com/vishnu-priya18/BioSentinel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0891B2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  <a:latin typeface="Arial"/>
              </a:rPr>
              <a:t>Questions &amp; Discussion: </a:t>
            </a:r>
            <a:r>
              <a:rPr b="0" sz="1400">
                <a:solidFill>
                  <a:srgbClr val="1E293B"/>
                </a:solidFill>
                <a:latin typeface="Arial"/>
              </a:rPr>
              <a:t>Open for Judge Q&amp;A and Technical Inspection</a:t>
            </a:r>
          </a:p>
        </p:txBody>
      </p:sp>
    </p:spTree>
    <p:extLst>
      <p:ext uri="{BB962C8B-B14F-4D97-AF65-F5344CB8AC3E}">
        <p14:creationId xmlns:p14="http://schemas.microsoft.com/office/powerpoint/2010/main" val="1912483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fbf4f4c-bfad-413d-b344-4db2c8587354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318777D3DDD8E4F86DB3AA0F31B936D" ma:contentTypeVersion="6" ma:contentTypeDescription="Create a new document." ma:contentTypeScope="" ma:versionID="eea44a9116eb2b4c1b1933801da82a22">
  <xsd:schema xmlns:xsd="http://www.w3.org/2001/XMLSchema" xmlns:xs="http://www.w3.org/2001/XMLSchema" xmlns:p="http://schemas.microsoft.com/office/2006/metadata/properties" xmlns:ns3="bfbf4f4c-bfad-413d-b344-4db2c8587354" targetNamespace="http://schemas.microsoft.com/office/2006/metadata/properties" ma:root="true" ma:fieldsID="4c4de55962e12a5dd6e23019a507612b" ns3:_="">
    <xsd:import namespace="bfbf4f4c-bfad-413d-b344-4db2c858735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bf4f4c-bfad-413d-b344-4db2c858735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B14BFA1-01D7-4453-9DB4-8F8A2678992B}">
  <ds:schemaRefs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bfbf4f4c-bfad-413d-b344-4db2c8587354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842E003-44B4-43C4-83A4-4BB20351214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fbf4f4c-bfad-413d-b344-4db2c858735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FC810CB-D5CE-4F3B-8EE4-8F18EAA0D4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9271</TotalTime>
  <Words>74</Words>
  <Application>Microsoft Office PowerPoint</Application>
  <PresentationFormat>Custom</PresentationFormat>
  <Paragraphs>38</Paragraphs>
  <Slides>7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SMART INDIA HACKATHON 2026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Crowdfunder, Inc.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Loganathan Vaithilingam</cp:lastModifiedBy>
  <cp:revision>201</cp:revision>
  <dcterms:created xsi:type="dcterms:W3CDTF">2013-12-12T18:46:50Z</dcterms:created>
  <dcterms:modified xsi:type="dcterms:W3CDTF">2026-08-19T05:37:23Z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0x010100A318777D3DDD8E4F86DB3AA0F31B936D</vt:lpwstr>
  </property>
</Properties>
</file>