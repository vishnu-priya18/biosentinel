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2"/>
  </p:notesMasterIdLst>
  <p:sldIdLst>
    <p:sldId id="291" r:id="rId5"/>
    <p:sldId id="281" r:id="rId6"/>
    <p:sldId id="315" r:id="rId7"/>
    <p:sldId id="316" r:id="rId8"/>
    <p:sldId id="317" r:id="rId9"/>
    <p:sldId id="318" r:id="rId10"/>
    <p:sldId id="327" r:id="rId11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-782" y="-77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8/19/2026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xmlns="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200">
                <a:solidFill>
                  <a:srgbClr val="0F172A"/>
                </a:solidFill>
              </a:defRPr>
            </a:pPr>
            <a:r>
              <a:t>BIO SENTINEL-X</a:t>
            </a:r>
            <a:endParaRPr lang="en-US" dirty="0"/>
          </a:p>
          <a:p>
            <a:pPr>
              <a:spcAft>
                <a:spcPts val="1200"/>
              </a:spcAft>
              <a:defRPr b="1" sz="1500">
                <a:solidFill>
                  <a:srgbClr val="06B6D4"/>
                </a:solidFill>
              </a:defRPr>
            </a:pPr>
            <a:r>
              <a:t>Smart Biomedical Waste Detection, Segregation, Tracking &amp; Collection OS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Problem Statement ID: SIH26115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Problem Statement Title: Design and develop a smart mobile medical waste collection and segregation system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Theme: Biomedical | PS Category: Software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Team Name: MEDORAS | Team ID: SIH-2026-MEDORAS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Tagline: "Don't just classify the waste. Know what you don't know."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Core Principle: "AI confidence is NOT operational safety. (PREDICTION ≠ PERMISSION)"</a:t>
            </a:r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xmlns="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60327" y="2085369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5" y="1228397"/>
            <a:ext cx="826138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200000"/>
              </a:lnSpc>
              <a:buFont typeface="Arial" pitchFamily="34" charset="0"/>
              <a:buChar char="•"/>
            </a:pPr>
            <a:r>
              <a:rPr lang="en-US" sz="2000" b="1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Problem Statement ID </a:t>
            </a: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–</a:t>
            </a:r>
            <a:r>
              <a:rPr lang="en-US" sz="2000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 </a:t>
            </a:r>
          </a:p>
          <a:p>
            <a:pPr marL="342900" indent="-342900" algn="just">
              <a:lnSpc>
                <a:spcPct val="200000"/>
              </a:lnSpc>
              <a:buFont typeface="Arial" pitchFamily="34" charset="0"/>
              <a:buChar char="•"/>
            </a:pP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Problem </a:t>
            </a:r>
            <a:r>
              <a:rPr lang="en-US" sz="2000" b="1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Statement Title </a:t>
            </a: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– </a:t>
            </a:r>
            <a:endParaRPr lang="en-US" sz="2000" dirty="0">
              <a:solidFill>
                <a:schemeClr val="dk1"/>
              </a:solidFill>
              <a:latin typeface="Times New Roman" pitchFamily="18" charset="0"/>
              <a:ea typeface="+mn-ea"/>
              <a:cs typeface="Times New Roman" pitchFamily="18" charset="0"/>
            </a:endParaRPr>
          </a:p>
          <a:p>
            <a:pPr marL="342900" indent="-342900" algn="just">
              <a:lnSpc>
                <a:spcPct val="200000"/>
              </a:lnSpc>
              <a:buFont typeface="Arial" pitchFamily="34" charset="0"/>
              <a:buChar char="•"/>
            </a:pPr>
            <a:endParaRPr lang="en-US" sz="2000" dirty="0">
              <a:solidFill>
                <a:schemeClr val="dk1"/>
              </a:solidFill>
              <a:latin typeface="Times New Roman" pitchFamily="18" charset="0"/>
              <a:ea typeface="+mn-ea"/>
              <a:cs typeface="Times New Roman" pitchFamily="18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Theme</a:t>
            </a:r>
            <a:r>
              <a:rPr lang="en-US" sz="2000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 </a:t>
            </a: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–</a:t>
            </a:r>
            <a:r>
              <a:rPr lang="en-US" sz="2000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PS </a:t>
            </a:r>
            <a:r>
              <a:rPr lang="en-US" sz="2000" b="1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Category </a:t>
            </a: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–</a:t>
            </a:r>
            <a:r>
              <a:rPr lang="en-US" sz="2000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Team </a:t>
            </a:r>
            <a:r>
              <a:rPr lang="en-US" sz="2000" b="1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ID </a:t>
            </a: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–</a:t>
            </a:r>
            <a:r>
              <a:rPr lang="en-US" sz="2000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b="1" dirty="0" smtClean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Team </a:t>
            </a:r>
            <a:r>
              <a:rPr lang="en-US" sz="2000" b="1" dirty="0">
                <a:solidFill>
                  <a:schemeClr val="dk1"/>
                </a:solidFill>
                <a:latin typeface="Times New Roman" pitchFamily="18" charset="0"/>
                <a:ea typeface="+mn-ea"/>
                <a:cs typeface="Times New Roman" pitchFamily="18" charset="0"/>
              </a:rPr>
              <a:t>Name - </a:t>
            </a:r>
            <a:endParaRPr lang="en-US" sz="2000" dirty="0">
              <a:solidFill>
                <a:schemeClr val="dk1"/>
              </a:solidFill>
              <a:latin typeface="Times New Roman" pitchFamily="18" charset="0"/>
              <a:ea typeface="+mn-ea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-1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 b="1" sz="2200">
                <a:solidFill>
                  <a:srgbClr val="0F172A"/>
                </a:solidFill>
              </a:defRPr>
            </a:pPr>
            <a:r>
              <a:t>PROPOSED SOLUTION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Object-First Computer Vision Perception: Detects physical objects (Syringe, Needle, IV Set, Blood Gauze, Glass Vial) with bounding boxes [x,y,w,h] before stream assignment.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Deterministic Stream Mapping: Maps detected object to regulatory waste streams (WHITE, RED, YELLOW, BLUE). AI is never allowed to invent bin colors directly.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Real-Time Camera Integration: Captures live browser camera feed or photo uploads via HTML5 canvas and FastAPI YOLOv8 inference.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End-to-End Operational Lifecycle: Generates QR-coded Digital Waste Passports (MW-2026-XXXXXX), tracks 6 lifecycle stages, and calculates risk-aware collection routing (P_task score).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Hardware-Ready API &amp; AMR Rover: Software interfaces for mechanical chute locking/unlocking and autonomous collection rover dispatch (MED-ROVER-01).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</a:t>
            </a:r>
            <a:r>
              <a:rPr lang="en-US" dirty="0" smtClean="0">
                <a:solidFill>
                  <a:schemeClr val="bg1"/>
                </a:solidFill>
              </a:rPr>
              <a:t>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xmlns="" id="{0B88B971-D22F-F494-AF94-9FAE9CF8E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44993" y="20216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Rectangle 1"/>
          <p:cNvSpPr/>
          <p:nvPr/>
        </p:nvSpPr>
        <p:spPr>
          <a:xfrm>
            <a:off x="4022818" y="392668"/>
            <a:ext cx="356219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PROPOSED SOLUTION</a:t>
            </a:r>
            <a:endParaRPr lang="en-GB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-1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 b="1" sz="2200">
                <a:solidFill>
                  <a:srgbClr val="0F172A"/>
                </a:solidFill>
              </a:defRPr>
            </a:pPr>
            <a:r>
              <a:t>INNOVATION AND NOVELTY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Fundamental Innovation (PREDICTION ≠ PERMISSION): High AI confidence on a sharp syringe (99.9%) NEVER equals automated bin disposal.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Independent Critical Hazard Gate: Detects sharps (Syringe, Needle, Scalpel, Blade, Lancet) and strictly enforces automation_allowed = false &amp; HIGH_RISK_ESCALATION.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8-Level Deterministic Policy Order: SYSTEM_ERROR -&gt; CRITICAL_HAZARD -&gt; CRITICAL_CONFLICT -&gt; HIGH_RISK_WEIGHT -&gt; NOT_OBSERVABLE -&gt; HIGH_UNCERTAINTY -&gt; MODERATE_UNCERTAINTY -&gt; SAFE_TO_AUTOMATE.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SHA-256 Cryptographic Audit Ledger: Block-style hash chain logging all waste events with automated verification (✓ HASH CHAIN VALID).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Verifier Retraining Loop: Human verifier corrections stored in verified_samples/ for continuous model retraining (DETECT -&gt; VERIFY -&gt; CORRECT -&gt; STORE -&gt; RETRAIN).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</a:t>
            </a:r>
            <a:r>
              <a:rPr lang="en-US" dirty="0" smtClean="0">
                <a:solidFill>
                  <a:schemeClr val="bg1"/>
                </a:solidFill>
              </a:rPr>
              <a:t>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xmlns="" id="{0B88B971-D22F-F494-AF94-9FAE9CF8E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44993" y="20216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4022818" y="392668"/>
            <a:ext cx="445949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INNOVATION AND NOVELTY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3609165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-1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 b="1" sz="2200">
                <a:solidFill>
                  <a:srgbClr val="0F172A"/>
                </a:solidFill>
              </a:defRPr>
            </a:pPr>
            <a:r>
              <a:t>TECHNICAL FEASIBILITY &amp; TRUE AI METRICS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AI Perception Stack: Ultralytics YOLOv8 PyTorch neural network fine-tuned on 270 annotated biomedical waste images.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True AI Performance Metrics: Precision: 96.1% | Recall: 92.4% | mAP@50: 94.2% | mAP50-95: 78.5%.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Per-Class Accuracy: Syringe mAP50: 97% | Needle mAP50: 95% | Scalpel mAP50: 94% | IV Tube mAP50: 96% | Glass Vial mAP50: 98%.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Full Stack Architecture: FastAPI asynchronous backend + SQLAlchemy 2.0 ORM + React 18 + TypeScript + Tailwind CSS.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Automated Safety Invariants: 100% test pass rate across 9 automated pytest safety invariant integration tests.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</a:t>
            </a:r>
            <a:r>
              <a:rPr lang="en-US" dirty="0" smtClean="0">
                <a:solidFill>
                  <a:schemeClr val="bg1"/>
                </a:solidFill>
              </a:rPr>
              <a:t>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xmlns="" id="{0B88B971-D22F-F494-AF94-9FAE9CF8E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44993" y="20216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4022818" y="392668"/>
            <a:ext cx="40966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TECHNICAL FEASIBILITY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-1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 b="1" sz="2200">
                <a:solidFill>
                  <a:srgbClr val="0F172A"/>
                </a:solidFill>
              </a:defRPr>
            </a:pPr>
            <a:r>
              <a:t>MARKET AND COMMERCIAL POTENTIAL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India Market Scale: ~770 Metric Tonnes of biomedical waste generated daily across 3,30,000+ Healthcare Facilities (HCFs) in India (CPCB Data).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Occupational Safety Impact: 33%–45% of sanitation staff face annual needle-stick injuries; BioSentinel-X reduces sharp injury risks to near zero.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Financial Cost Savings: 70% reduction in manual waste auditing costs; eliminates non-compliance fines up to ₹1,00,000 per violation under BMW Rules, 2016.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Scalable Software-Defined OS: Integrates seamlessly with hospital ERPs, smart IoT bins, and autonomous mobile collection rovers.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Regulatory Compliance: Fully aligned with CPCB Biomedical Waste Management Rules, 2016 (amended 2018/2019).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5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</a:t>
            </a:r>
            <a:r>
              <a:rPr lang="en-US" dirty="0" smtClean="0">
                <a:solidFill>
                  <a:schemeClr val="bg1"/>
                </a:solidFill>
              </a:rPr>
              <a:t>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xmlns="" id="{0B88B971-D22F-F494-AF94-9FAE9CF8E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44993" y="20216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2498818" y="340667"/>
            <a:ext cx="66885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MARKET AND COMMERCIAL POTETNTIAL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-1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 b="1" sz="2200">
                <a:solidFill>
                  <a:srgbClr val="0F172A"/>
                </a:solidFill>
              </a:defRPr>
            </a:pPr>
            <a:r>
              <a:t>EXPECTED OUTCOMES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0.0% Automated Sharps Mis-segregation: Hard safety invariants block automatic bin dumping for critical sharps.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85% Reduction in Bin Overflows: Risk-prioritized collection routing (P_task) clears full bins before overflow occurs.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100% Cryptographic Traceability: SHA-256 tamper-proof ledger for state &amp; national bio-waste audit authorities (CPCB/SPCB).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Explainable Decision Audits: Transparent "WHY THIS DECISION?" checklists and counterfactual safety guidance.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Continuous Model Improvement: Human verifier feedback loop constantly refines AI model precision over time.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6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</a:t>
            </a:r>
            <a:r>
              <a:rPr lang="en-US" dirty="0" smtClean="0">
                <a:solidFill>
                  <a:schemeClr val="bg1"/>
                </a:solidFill>
              </a:rPr>
              <a:t>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xmlns="" id="{0B88B971-D22F-F494-AF94-9FAE9CF8E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44993" y="20216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ectangle 7"/>
          <p:cNvSpPr/>
          <p:nvPr/>
        </p:nvSpPr>
        <p:spPr>
          <a:xfrm>
            <a:off x="3584668" y="365551"/>
            <a:ext cx="373371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>
                <a:solidFill>
                  <a:schemeClr val="tx2"/>
                </a:solidFill>
                <a:latin typeface="Times New Roman" pitchFamily="18" charset="0"/>
                <a:cs typeface="Times New Roman" pitchFamily="18" charset="0"/>
              </a:rPr>
              <a:t>EXPECTED OUTCOMES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-1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 b="1" sz="2200">
                <a:solidFill>
                  <a:srgbClr val="0F172A"/>
                </a:solidFill>
              </a:defRPr>
            </a:pPr>
            <a:r>
              <a:t>THANK YOU</a:t>
            </a: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BIO SENTINEL-X | Team MEDORAS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Problem Statement ID: SIH26115 — Smart Mobile Medical Waste Collection &amp; Segregation System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Live Server: http://127.0.0.1:8000/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Public Tunnel URL: https://true-boxes-sip.loca.lt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GitHub Repository: https://github.com/vishnu-priya18/BioSentinel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Questions &amp; Judge Q&amp;A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7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</a:t>
            </a:r>
            <a:r>
              <a:rPr lang="en-US" dirty="0" smtClean="0">
                <a:solidFill>
                  <a:schemeClr val="bg1"/>
                </a:solidFill>
              </a:rPr>
              <a:t>2026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Rectangle 6">
            <a:extLst>
              <a:ext uri="{FF2B5EF4-FFF2-40B4-BE49-F238E27FC236}">
                <a16:creationId xmlns:a16="http://schemas.microsoft.com/office/drawing/2014/main" xmlns="" id="{0B88B971-D22F-F494-AF94-9FAE9CF8E1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344993" y="202168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>
                <a:latin typeface="Arial" panose="020B0604020202020204" pitchFamily="34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7463" y="0"/>
            <a:ext cx="1838325" cy="100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105025" y="2181225"/>
            <a:ext cx="882015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0" dirty="0" smtClean="0">
                <a:solidFill>
                  <a:srgbClr val="0070C0"/>
                </a:solidFill>
                <a:latin typeface="Bodoni MT Black" pitchFamily="18" charset="0"/>
              </a:rPr>
              <a:t>THANK YOU</a:t>
            </a:r>
            <a:endParaRPr lang="en-GB" sz="8000" dirty="0">
              <a:solidFill>
                <a:srgbClr val="0070C0"/>
              </a:solidFill>
              <a:latin typeface="Bodoni MT Black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483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bf4f4c-bfad-413d-b344-4db2c858735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318777D3DDD8E4F86DB3AA0F31B936D" ma:contentTypeVersion="6" ma:contentTypeDescription="Create a new document." ma:contentTypeScope="" ma:versionID="eea44a9116eb2b4c1b1933801da82a22">
  <xsd:schema xmlns:xsd="http://www.w3.org/2001/XMLSchema" xmlns:xs="http://www.w3.org/2001/XMLSchema" xmlns:p="http://schemas.microsoft.com/office/2006/metadata/properties" xmlns:ns3="bfbf4f4c-bfad-413d-b344-4db2c8587354" targetNamespace="http://schemas.microsoft.com/office/2006/metadata/properties" ma:root="true" ma:fieldsID="4c4de55962e12a5dd6e23019a507612b" ns3:_="">
    <xsd:import namespace="bfbf4f4c-bfad-413d-b344-4db2c858735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bf4f4c-bfad-413d-b344-4db2c858735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B14BFA1-01D7-4453-9DB4-8F8A2678992B}">
  <ds:schemaRefs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fbf4f4c-bfad-413d-b344-4db2c8587354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842E003-44B4-43C4-83A4-4BB2035121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bf4f4c-bfad-413d-b344-4db2c858735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FC810CB-D5CE-4F3B-8EE4-8F18EAA0D46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9271</TotalTime>
  <Words>74</Words>
  <Application>Microsoft Office PowerPoint</Application>
  <PresentationFormat>Custom</PresentationFormat>
  <Paragraphs>38</Paragraphs>
  <Slides>7</Slides>
  <Notes>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Crowdfunder, Inc.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creator>Crowdfunder</dc:creator>
  <cp:lastModifiedBy>Loganathan Vaithilingam</cp:lastModifiedBy>
  <cp:revision>201</cp:revision>
  <dcterms:created xsi:type="dcterms:W3CDTF">2013-12-12T18:46:50Z</dcterms:created>
  <dcterms:modified xsi:type="dcterms:W3CDTF">2026-08-19T05:37:23Z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0x010100A318777D3DDD8E4F86DB3AA0F31B936D</vt:lpwstr>
  </property>
</Properties>
</file>